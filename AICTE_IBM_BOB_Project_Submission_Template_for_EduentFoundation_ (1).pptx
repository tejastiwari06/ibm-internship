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1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093570264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TEJAS TIWARI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tejastiwari.610@gmail.com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9599317991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life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/>
              <a:t>Problem Statement No.6 – Eco Lifestyle Agent 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20D01-29CB-6FE1-687F-71FAA8F65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195" y="3656094"/>
            <a:ext cx="936361" cy="111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92480" y="1322575"/>
            <a:ext cx="106070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Eco Lifestyle Agent </a:t>
            </a:r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An Eco Lifestyle Agent, powered by RAG (Retrieval-Augmented Generation), empowers users to adopt a greener lifestyle through personalized, practical suggestions. It retrieves sustainable living tips, eco-friendly product recommendations, local recycling guidelines, and government schemes from trusted environmental sources. </a:t>
            </a: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Users can ask natural language questions such as “How can I reduce plastic use at home?” or “What are eco-friendly travel options in my city?” and receive instant, actionable guidance. The agent promotes small daily actions with big environmental impact, making sustainability easy and accessible. This AI-driven assistant fosters eco-conscious decisions, raises awareness, and helps build a more sustainable future.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/>
          </a:p>
          <a:p>
            <a:r>
              <a:rPr lang="en-US" b="1"/>
              <a:t>Proposed Solution: AI-Powered Nutrition Agent</a:t>
            </a:r>
          </a:p>
          <a:p>
            <a:r>
              <a:rPr lang="en-US"/>
              <a:t>The proposed solution is a </a:t>
            </a:r>
            <a:r>
              <a:rPr lang="en-US" b="1"/>
              <a:t>multi-agent AI-powered Nutrition Agent</a:t>
            </a:r>
            <a:r>
              <a:rPr lang="en-US"/>
              <a:t> built using </a:t>
            </a:r>
            <a:r>
              <a:rPr lang="en-US" b="1"/>
              <a:t>IBM Bob, IBM watsonx.ai, and Granite Models</a:t>
            </a:r>
            <a:r>
              <a:rPr lang="en-US"/>
              <a:t> to provide personalized, real-time dietary guidance. The system addresses challenges in diet planning, nutrition tracking, and preventive healthcare through an intelligent, modular architecture.</a:t>
            </a:r>
          </a:p>
          <a:p>
            <a:r>
              <a:rPr lang="en-US"/>
              <a:t>At its core, the solution uses a </a:t>
            </a:r>
            <a:r>
              <a:rPr lang="en-US" b="1"/>
              <a:t>Retrieval-Augmented Generation (RAG)</a:t>
            </a:r>
            <a:r>
              <a:rPr lang="en-US"/>
              <a:t> pipeline to fetch accurate nutritional data from trusted sources such as USDA and WHO datasets. This data is embedded and stored in a vector database, enabling the system to retrieve and summarize food nutrition details (calories, macros, vitamins) using Granite models.</a:t>
            </a:r>
          </a:p>
          <a:p>
            <a:r>
              <a:rPr lang="en-US"/>
              <a:t>The system consists of four key agents:</a:t>
            </a:r>
          </a:p>
          <a:p>
            <a:r>
              <a:rPr lang="en-US" b="1"/>
              <a:t>Nutrition Knowledge Agent</a:t>
            </a:r>
            <a:r>
              <a:rPr lang="en-US"/>
              <a:t> retrieves and summarizes nutritional information using RAG. </a:t>
            </a:r>
          </a:p>
          <a:p>
            <a:r>
              <a:rPr lang="en-US" b="1"/>
              <a:t>Diet Recommendation Agent</a:t>
            </a:r>
            <a:r>
              <a:rPr lang="en-US"/>
              <a:t> generates personalized meal plans based on user inputs such as age, health conditions, dietary preferences, and fitness goals. </a:t>
            </a:r>
          </a:p>
          <a:p>
            <a:r>
              <a:rPr lang="en-US" b="1"/>
              <a:t>Health Advisory Agent</a:t>
            </a:r>
            <a:r>
              <a:rPr lang="en-US"/>
              <a:t> provides preventive health suggestions, including disease-specific diets (e.g., diabetes-friendly or heart-healthy plans). </a:t>
            </a:r>
          </a:p>
          <a:p>
            <a:r>
              <a:rPr lang="en-US" b="1"/>
              <a:t>Food Log &amp; Feedback Agent</a:t>
            </a:r>
            <a:r>
              <a:rPr lang="en-US"/>
              <a:t> allows users to log meals via text, voice, or images and delivers instant nutritional analysis with actionable feedback. </a:t>
            </a:r>
          </a:p>
          <a:p>
            <a:r>
              <a:rPr lang="en-US"/>
              <a:t>The solution includes a </a:t>
            </a:r>
            <a:r>
              <a:rPr lang="en-US" b="1"/>
              <a:t>user-friendly dashboard</a:t>
            </a:r>
            <a:r>
              <a:rPr lang="en-US"/>
              <a:t> (built with </a:t>
            </a:r>
            <a:r>
              <a:rPr lang="en-US" err="1"/>
              <a:t>Streamlit</a:t>
            </a:r>
            <a:r>
              <a:rPr lang="en-US"/>
              <a:t> or React) that visualizes daily and weekly nutrient intake, highlights deficiencies, and tracks progress toward health goals.</a:t>
            </a:r>
          </a:p>
          <a:p>
            <a:r>
              <a:rPr lang="en-US"/>
              <a:t>IBM Bob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/>
              <a:t>Overall, this solution delivers an </a:t>
            </a:r>
            <a:r>
              <a:rPr lang="en-US" b="1"/>
              <a:t>end-to-end intelligent nutrition assistant</a:t>
            </a:r>
            <a:r>
              <a:rPr lang="en-US"/>
              <a:t> that promotes healthier lifestyles through personalized insights, real-time feedback, and preventive healthcare recommendations.</a:t>
            </a:r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Bob platform </a:t>
            </a:r>
            <a:r>
              <a:rPr lang="en-US" sz="180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</a:t>
            </a:r>
            <a:r>
              <a:rPr lang="en-US" sz="1800" b="1" err="1"/>
              <a:t>Grainte</a:t>
            </a:r>
            <a:r>
              <a:rPr lang="en-US" sz="1800" b="1"/>
              <a:t> model </a:t>
            </a:r>
            <a:r>
              <a:rPr lang="en-US" sz="1800"/>
              <a:t>-  for </a:t>
            </a:r>
            <a:r>
              <a:rPr lang="en-US" sz="1800" err="1"/>
              <a:t>eg</a:t>
            </a:r>
            <a:r>
              <a:rPr lang="en-US" sz="180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It provides the infrastructure to build, deploy, and scale the Nutrition Agent efficiently. IBM Cloud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</a:t>
            </a:r>
            <a:r>
              <a:rPr lang="en-US" sz="180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Vector Database </a:t>
            </a:r>
            <a:r>
              <a:rPr lang="en-IN" sz="1800"/>
              <a:t>(FAISS/Chroma) – For RAG-based nutritional data retrieval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Index.html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4250700" y="202996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CB153-0CEE-FEBE-646F-5D387DB10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226" y="1255053"/>
            <a:ext cx="9281124" cy="518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23DC1-CDC2-E6AE-871F-1195D5213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50" y="972490"/>
            <a:ext cx="9548313" cy="540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1F24B-A6B1-C5C7-E3AA-FDB273744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6" y="225260"/>
            <a:ext cx="11246428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3E0F9-8CBE-98FD-CB9D-37FF32B93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771747"/>
            <a:ext cx="5711941" cy="2740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EC7B4-DD27-4E33-3D87-B19DC601B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843243"/>
            <a:ext cx="5842894" cy="269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886197" y="1464949"/>
            <a:ext cx="74066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Eco Lifestyle Agent demonstrates </a:t>
            </a:r>
            <a:r>
              <a:rPr lang="en-US" b="1" dirty="0"/>
              <a:t>agentic AI</a:t>
            </a:r>
            <a:r>
              <a:rPr lang="en-US" dirty="0"/>
              <a:t> through its ability to autonomously perceive, reason, retrieve, and respond — going far beyond a simple question-answer chatbot.</a:t>
            </a:r>
          </a:p>
          <a:p>
            <a:r>
              <a:rPr lang="en-US" b="1" dirty="0"/>
              <a:t>1. Autonomous Goal-Directed Behavior</a:t>
            </a:r>
            <a:r>
              <a:rPr lang="en-US" dirty="0"/>
              <a:t> The agent independently decides </a:t>
            </a:r>
            <a:r>
              <a:rPr lang="en-US" i="1" dirty="0"/>
              <a:t>what</a:t>
            </a:r>
            <a:r>
              <a:rPr lang="en-US" dirty="0"/>
              <a:t> to retrieve, </a:t>
            </a:r>
            <a:r>
              <a:rPr lang="en-US" i="1" dirty="0"/>
              <a:t>how much</a:t>
            </a:r>
            <a:r>
              <a:rPr lang="en-US" dirty="0"/>
              <a:t> context to gather, and </a:t>
            </a:r>
            <a:r>
              <a:rPr lang="en-US" i="1" dirty="0"/>
              <a:t>which LLM</a:t>
            </a:r>
            <a:r>
              <a:rPr lang="en-US" dirty="0"/>
              <a:t> to use — without human intervention at each step. Given a query, it self-directs the entire pipeline from retrieval to response generation.</a:t>
            </a:r>
          </a:p>
          <a:p>
            <a:r>
              <a:rPr lang="en-US" b="1" dirty="0"/>
              <a:t>2. Perception &amp; Understanding</a:t>
            </a:r>
            <a:r>
              <a:rPr lang="en-US" dirty="0"/>
              <a:t> It interprets natural language queries — understanding intent behind phrases like </a:t>
            </a:r>
            <a:r>
              <a:rPr lang="en-US" i="1" dirty="0"/>
              <a:t>"What can I do today to be greener?"</a:t>
            </a:r>
            <a:r>
              <a:rPr lang="en-US" dirty="0"/>
              <a:t> — rather than relying on rigid keyword matching. This is a hallmark of agentic cognition.</a:t>
            </a:r>
          </a:p>
          <a:p>
            <a:r>
              <a:rPr lang="en-US" b="1" dirty="0"/>
              <a:t>3. Tool Use (RAG as a Tool)</a:t>
            </a:r>
            <a:r>
              <a:rPr lang="en-US" dirty="0"/>
              <a:t> The agent actively </a:t>
            </a:r>
            <a:r>
              <a:rPr lang="en-US" i="1" dirty="0"/>
              <a:t>uses a tool</a:t>
            </a:r>
            <a:r>
              <a:rPr lang="en-US" dirty="0"/>
              <a:t> — the TF-IDF retrieval engine — to fetch relevant knowledge before answering. This mirrors how agentic AI systems use external tools to augment their own knowledge, preventing hallucination.</a:t>
            </a:r>
          </a:p>
          <a:p>
            <a:r>
              <a:rPr lang="en-US" b="1" dirty="0"/>
              <a:t>4. Multi-Step Reasoning</a:t>
            </a:r>
            <a:r>
              <a:rPr lang="en-US" dirty="0"/>
              <a:t> It chains multiple steps autonomously: tokenize query → compute similarity → retrieve chunks → assemble context → construct prompt → call LLM → return answer. Each step feeds the next with no human in the loop.</a:t>
            </a:r>
          </a:p>
          <a:p>
            <a:r>
              <a:rPr lang="en-US" b="1" dirty="0"/>
              <a:t>5. Adaptive Fallback Decision-Making</a:t>
            </a:r>
            <a:r>
              <a:rPr lang="en-US" dirty="0"/>
              <a:t> When one LLM is unavailable, the agent </a:t>
            </a:r>
            <a:r>
              <a:rPr lang="en-US" i="1" dirty="0"/>
              <a:t>decides</a:t>
            </a:r>
            <a:r>
              <a:rPr lang="en-US" dirty="0"/>
              <a:t> to try the next provider — Gemini → OpenAI → </a:t>
            </a:r>
            <a:r>
              <a:rPr lang="en-US" dirty="0" err="1"/>
              <a:t>Groq</a:t>
            </a:r>
            <a:r>
              <a:rPr lang="en-US" dirty="0"/>
              <a:t> → Rule-based. This self-correcting behavior is a core agentic trait: resilience through autonomous decision trees.</a:t>
            </a:r>
          </a:p>
          <a:p>
            <a:r>
              <a:rPr lang="en-US" b="1" dirty="0"/>
              <a:t>6. Memory-Aware Conversation</a:t>
            </a:r>
            <a:r>
              <a:rPr lang="en-US" dirty="0"/>
              <a:t> It maintains conversational context across turns, enabling multi-round reasoning — another pillar of agentic AI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CE0C99-E3BB-0A9F-D4E7-BF375BF42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93" y="2486334"/>
            <a:ext cx="4964829" cy="2756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AA5602-6140-81E2-79B3-6831F9B17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180" y="2604051"/>
            <a:ext cx="5153500" cy="275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394B2-43AB-0C0A-9704-2E35F7C6F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94" y="1044263"/>
            <a:ext cx="9973978" cy="548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DDBDA-2C90-EAE7-B2C1-1B1175E74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96" y="965255"/>
            <a:ext cx="10551906" cy="555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22C5E0-1915-0516-23F1-84D918E6E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140727"/>
              </p:ext>
            </p:extLst>
          </p:nvPr>
        </p:nvGraphicFramePr>
        <p:xfrm>
          <a:off x="513570" y="1107814"/>
          <a:ext cx="10515600" cy="2072640"/>
        </p:xfrm>
        <a:graphic>
          <a:graphicData uri="http://schemas.openxmlformats.org/drawingml/2006/table">
            <a:tbl>
              <a:tblPr>
                <a:tableStyleId>{0AAD8F4D-43EB-41E5-8A38-28AB6DFB1B60}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58218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15758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060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Zero-Dependency RAG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Built TF-IDF retrieval from scratch — no FAISS, no ChromaDB, no Pinecone. Runs on any laptop with just Python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872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Always Works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Gemini → OpenAI → Groq → Rule-based fallback chain means it never breaks, even without internet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114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Real Government Data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dirty="0">
                          <a:effectLst/>
                        </a:rPr>
                        <a:t>Actual schemes with application steps — PM Surya Ghar, FAME India, US Inflation Reduction Act, UK Boiler Upgrade Scheme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4852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AA93E1-7AC9-226B-EE7C-05DE7F0068E3}"/>
              </a:ext>
            </a:extLst>
          </p:cNvPr>
          <p:cNvSpPr txBox="1"/>
          <p:nvPr/>
        </p:nvSpPr>
        <p:spPr>
          <a:xfrm>
            <a:off x="2790389" y="1420706"/>
            <a:ext cx="6230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1" i="0">
                <a:solidFill>
                  <a:srgbClr val="000000"/>
                </a:solidFill>
                <a:effectLst/>
                <a:latin typeface="Arial"/>
              </a:rPr>
              <a:t>What Makes It Novel (Top 3)</a:t>
            </a:r>
            <a:endParaRPr lang="en-US" sz="1400" b="1" i="0">
              <a:solidFill>
                <a:srgbClr val="FFFFFF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62C81-1410-9400-B68F-59E5AD976DE0}"/>
              </a:ext>
            </a:extLst>
          </p:cNvPr>
          <p:cNvSpPr txBox="1"/>
          <p:nvPr/>
        </p:nvSpPr>
        <p:spPr>
          <a:xfrm>
            <a:off x="1388125" y="1255923"/>
            <a:ext cx="5043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https://github.com/tejastiwari06/IBM-internship.git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987369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1.Integration with Wearables &amp; Health Devices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646DB2-FB0B-4F5E-A701-CEA96378D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85822"/>
              </p:ext>
            </p:extLst>
          </p:nvPr>
        </p:nvGraphicFramePr>
        <p:xfrm>
          <a:off x="1218723" y="1696488"/>
          <a:ext cx="9260596" cy="4253689"/>
        </p:xfrm>
        <a:graphic>
          <a:graphicData uri="http://schemas.openxmlformats.org/drawingml/2006/table">
            <a:tbl>
              <a:tblPr>
                <a:tableStyleId>{0AAD8F4D-43EB-41E5-8A38-28AB6DFB1B60}</a:tableStyleId>
              </a:tblPr>
              <a:tblGrid>
                <a:gridCol w="4630298">
                  <a:extLst>
                    <a:ext uri="{9D8B030D-6E8A-4147-A177-3AD203B41FA5}">
                      <a16:colId xmlns:a16="http://schemas.microsoft.com/office/drawing/2014/main" val="2073534226"/>
                    </a:ext>
                  </a:extLst>
                </a:gridCol>
                <a:gridCol w="4630298">
                  <a:extLst>
                    <a:ext uri="{9D8B030D-6E8A-4147-A177-3AD203B41FA5}">
                      <a16:colId xmlns:a16="http://schemas.microsoft.com/office/drawing/2014/main" val="3937759012"/>
                    </a:ext>
                  </a:extLst>
                </a:gridCol>
              </a:tblGrid>
              <a:tr h="545345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Phase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Feature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752163"/>
                  </a:ext>
                </a:extLst>
              </a:tr>
              <a:tr h="927086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Phase 1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📸 Image recognition for waste sorting · 🗺️ Location-aware local schemes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905008"/>
                  </a:ext>
                </a:extLst>
              </a:tr>
              <a:tr h="927086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dirty="0">
                          <a:effectLst/>
                        </a:rPr>
                        <a:t>Phase 2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📊 Personal carbon footprint tracker · 🏆 Gamification &amp; eco challenges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129420"/>
                  </a:ext>
                </a:extLst>
              </a:tr>
              <a:tr h="927086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Phase 3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🛒 Smart eco shopping assistant · 🌐 Real-time KB auto-updates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419336"/>
                  </a:ext>
                </a:extLst>
              </a:tr>
              <a:tr h="927086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>
                          <a:effectLst/>
                        </a:rPr>
                        <a:t>Phase 4</a:t>
                      </a:r>
                      <a:endParaRPr lang="en-US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dirty="0">
                          <a:effectLst/>
                        </a:rPr>
                        <a:t>📱 Mobile app + voice interface · 🏙️ Municipal/Enterprise white-labeling</a:t>
                      </a:r>
                      <a:endParaRPr lang="en-US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9805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523491B-8DA7-A02F-50ED-7C3613F12FC1}"/>
              </a:ext>
            </a:extLst>
          </p:cNvPr>
          <p:cNvSpPr txBox="1"/>
          <p:nvPr/>
        </p:nvSpPr>
        <p:spPr>
          <a:xfrm>
            <a:off x="2768037" y="4157408"/>
            <a:ext cx="5504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1" i="0">
                <a:solidFill>
                  <a:srgbClr val="000000"/>
                </a:solidFill>
                <a:effectLst/>
                <a:latin typeface="Arial"/>
              </a:rPr>
              <a:t>Future Scope — 4 Phases</a:t>
            </a:r>
            <a:endParaRPr lang="en-US" sz="1400" b="1" i="0">
              <a:solidFill>
                <a:srgbClr val="FFFFFF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BF135-BB3E-1476-9753-D4E73D096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253" y="1498742"/>
            <a:ext cx="6553537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8995A0-2976-D6F5-6F30-37D8CCF11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15" y="1627673"/>
            <a:ext cx="7188569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1188</Words>
  <Application>Microsoft Office PowerPoint</Application>
  <PresentationFormat>Widescreen</PresentationFormat>
  <Paragraphs>128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Segoe WPC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Divaker Tiwari</cp:lastModifiedBy>
  <cp:revision>3</cp:revision>
  <dcterms:created xsi:type="dcterms:W3CDTF">2025-07-08T05:06:56Z</dcterms:created>
  <dcterms:modified xsi:type="dcterms:W3CDTF">2026-09-13T13:04:59Z</dcterms:modified>
</cp:coreProperties>
</file>